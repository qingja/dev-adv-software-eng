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f9169cebab459f" /><Relationship Type="http://schemas.openxmlformats.org/officeDocument/2006/relationships/extended-properties" Target="/docProps/app.xml" Id="R4c641d9b30ac4231" /><Relationship Type="http://schemas.openxmlformats.org/officeDocument/2006/relationships/officeDocument" Target="/ppt/presentation.xml" Id="R0c3f7ad3e33b4a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895c1344f840f0"/>
  </p:sldMasterIdLst>
  <p:notesMasterIdLst>
    <p:notesMasterId xmlns:r="http://schemas.openxmlformats.org/officeDocument/2006/relationships" r:id="Rea22c7d842c740c5"/>
  </p:notesMasterIdLst>
  <p:sldIdLst>
    <p:sldId xmlns:r="http://schemas.openxmlformats.org/officeDocument/2006/relationships" id="256" r:id="R38576145ebbd449e"/>
    <p:sldId xmlns:r="http://schemas.openxmlformats.org/officeDocument/2006/relationships" id="257" r:id="R3eefebcd6b444ed9"/>
    <p:sldId xmlns:r="http://schemas.openxmlformats.org/officeDocument/2006/relationships" id="258" r:id="R679ddbb1ca42494b"/>
    <p:sldId xmlns:r="http://schemas.openxmlformats.org/officeDocument/2006/relationships" id="259" r:id="Rb271534d19ef45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6ac54c67c24ebe" /><Relationship Type="http://schemas.openxmlformats.org/officeDocument/2006/relationships/slideMaster" Target="/ppt/slideMasters/slideMaster1.xml" Id="R5b895c1344f840f0" /><Relationship Type="http://schemas.openxmlformats.org/officeDocument/2006/relationships/notesMaster" Target="/ppt/notesMasters/notesMaster1.xml" Id="Rea22c7d842c740c5" /><Relationship Type="http://schemas.openxmlformats.org/officeDocument/2006/relationships/presProps" Target="/ppt/presProps.xml" Id="R9b4b312063df4ac1" /><Relationship Type="http://schemas.openxmlformats.org/officeDocument/2006/relationships/tableStyles" Target="/ppt/tableStyles.xml" Id="R2d9ab2c4426b4d65" /><Relationship Type="http://schemas.openxmlformats.org/officeDocument/2006/relationships/slide" Target="/ppt/slides/slide1.xml" Id="R38576145ebbd449e" /><Relationship Type="http://schemas.openxmlformats.org/officeDocument/2006/relationships/slide" Target="/ppt/slides/slide2.xml" Id="R3eefebcd6b444ed9" /><Relationship Type="http://schemas.openxmlformats.org/officeDocument/2006/relationships/slide" Target="/ppt/slides/slide3.xml" Id="R679ddbb1ca42494b" /><Relationship Type="http://schemas.openxmlformats.org/officeDocument/2006/relationships/slide" Target="/ppt/slides/slide4.xml" Id="Rb271534d19ef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12f3150949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bfd8c00ee5438c" /><Relationship Type="http://schemas.openxmlformats.org/officeDocument/2006/relationships/notesMaster" Target="/ppt/notesMasters/notesMaster1.xml" Id="R1d2dd9ff97e246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60c7b298eb4f38" /><Relationship Type="http://schemas.openxmlformats.org/officeDocument/2006/relationships/notesMaster" Target="/ppt/notesMasters/notesMaster1.xml" Id="R4a2f919e0496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18928d33844f90" /><Relationship Type="http://schemas.openxmlformats.org/officeDocument/2006/relationships/notesMaster" Target="/ppt/notesMasters/notesMaster1.xml" Id="R071dd179fa2f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6a93eb7d04793" /><Relationship Type="http://schemas.openxmlformats.org/officeDocument/2006/relationships/notesMaster" Target="/ppt/notesMasters/notesMaster1.xml" Id="R7e582e83a3ce4c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db15e390f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dc0cb32bc4b93" /><Relationship Type="http://schemas.openxmlformats.org/officeDocument/2006/relationships/slideLayout" Target="/ppt/slideLayouts/slideLayout1.xml" Id="R94607cb3f22241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607cb3f22241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33310a48c48ac" /><Relationship Type="http://schemas.openxmlformats.org/officeDocument/2006/relationships/notesSlide" Target="/ppt/notesSlides/notesSlide1.xml" Id="R5b31dd697c08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9bb7b249746f8" /><Relationship Type="http://schemas.openxmlformats.org/officeDocument/2006/relationships/notesSlide" Target="/ppt/notesSlides/notesSlide2.xml" Id="R9469535ef5f240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44e669c894764" /><Relationship Type="http://schemas.openxmlformats.org/officeDocument/2006/relationships/notesSlide" Target="/ppt/notesSlides/notesSlide3.xml" Id="R8743fdcedbf4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1ebcc5a8467a" /><Relationship Type="http://schemas.openxmlformats.org/officeDocument/2006/relationships/notesSlide" Target="/ppt/notesSlides/notesSlide4.xml" Id="R815d87bfe91341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D33E29F-AFD6-4C06-BC55-083D4E3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88340E-24A9-4C47-B9B1-7ACB5F5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应用场景和需求分析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8DD5A99D-B6AB-412A-8457-89682CBF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把“填问卷、算营养、买食材、评方案、写推广”串成一个可演示闭环。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172ED60-C5B3-46BF-A4A4-2DE7006F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scene-left">
            <a:extLst xmlns:a="http://schemas.openxmlformats.org/drawingml/2006/main">
              <a:ext uri="{FF2B5EF4-FFF2-40B4-BE49-F238E27FC236}">
                <a16:creationId xmlns:a16="http://schemas.microsoft.com/office/drawing/2014/main" id="{0E967A5D-0E5A-48A7-B39B-F107EA39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3340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header-核心场景">
            <a:extLst xmlns:a="http://schemas.openxmlformats.org/drawingml/2006/main">
              <a:ext uri="{FF2B5EF4-FFF2-40B4-BE49-F238E27FC236}">
                <a16:creationId xmlns:a16="http://schemas.microsoft.com/office/drawing/2014/main" id="{3054E64B-61F8-469A-B787-FE458641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47857"/>
                </a:solidFill>
              </a:defRPr>
            </a:pPr>
            <a:r>
              <a:rPr sz="1650" b="1">
                <a:solidFill>
                  <a:srgbClr val="047857"/>
                </a:solidFill>
              </a:rPr>
              <a:t>核心场景</a:t>
            </a:r>
          </a:p>
        </p:txBody>
      </p:sp>
      <p:sp>
        <p:nvSpPr>
          <p:cNvPr id="7" name="scene-bullets">
            <a:extLst xmlns:a="http://schemas.openxmlformats.org/drawingml/2006/main">
              <a:ext uri="{FF2B5EF4-FFF2-40B4-BE49-F238E27FC236}">
                <a16:creationId xmlns:a16="http://schemas.microsoft.com/office/drawing/2014/main" id="{1E5BE766-7971-425B-8502-4D3E9723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434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个人用户填写健康问卷，系统生成结构化画像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多智能体协作生成一天/一周/月饮食计划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输出采购清单、最终推荐和多平台推广素材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后端在线时保存到账户数据库，离线时本地兜底</a:t>
            </a:r>
          </a:p>
        </p:txBody>
      </p:sp>
      <p:sp>
        <p:nvSpPr>
          <p:cNvPr id="8" name="pill-问卷输入">
            <a:extLst xmlns:a="http://schemas.openxmlformats.org/drawingml/2006/main">
              <a:ext uri="{FF2B5EF4-FFF2-40B4-BE49-F238E27FC236}">
                <a16:creationId xmlns:a16="http://schemas.microsoft.com/office/drawing/2014/main" id="{F386E473-2C8C-4DF3-BF1D-73CE77B8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pill-text-问卷输入">
            <a:extLst xmlns:a="http://schemas.openxmlformats.org/drawingml/2006/main">
              <a:ext uri="{FF2B5EF4-FFF2-40B4-BE49-F238E27FC236}">
                <a16:creationId xmlns:a16="http://schemas.microsoft.com/office/drawing/2014/main" id="{2273FA2B-E370-4972-91EE-F3E3A73C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问卷输入</a:t>
            </a:r>
          </a:p>
        </p:txBody>
      </p:sp>
      <p:sp>
        <p:nvSpPr>
          <p:cNvPr id="10" name="pill-方案生成">
            <a:extLst xmlns:a="http://schemas.openxmlformats.org/drawingml/2006/main">
              <a:ext uri="{FF2B5EF4-FFF2-40B4-BE49-F238E27FC236}">
                <a16:creationId xmlns:a16="http://schemas.microsoft.com/office/drawing/2014/main" id="{A3F71E9D-632B-4970-B380-0FE07061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53000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1" name="pill-text-方案生成">
            <a:extLst xmlns:a="http://schemas.openxmlformats.org/drawingml/2006/main">
              <a:ext uri="{FF2B5EF4-FFF2-40B4-BE49-F238E27FC236}">
                <a16:creationId xmlns:a16="http://schemas.microsoft.com/office/drawing/2014/main" id="{BE769EB9-E045-49CA-A612-67F93DD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196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方案生成</a:t>
            </a:r>
          </a:p>
        </p:txBody>
      </p:sp>
      <p:sp>
        <p:nvSpPr>
          <p:cNvPr id="12" name="pill-评估推荐">
            <a:extLst xmlns:a="http://schemas.openxmlformats.org/drawingml/2006/main">
              <a:ext uri="{FF2B5EF4-FFF2-40B4-BE49-F238E27FC236}">
                <a16:creationId xmlns:a16="http://schemas.microsoft.com/office/drawing/2014/main" id="{077D40A7-9B44-4B87-B9C0-BFE7F2A9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3000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pill-text-评估推荐">
            <a:extLst xmlns:a="http://schemas.openxmlformats.org/drawingml/2006/main">
              <a:ext uri="{FF2B5EF4-FFF2-40B4-BE49-F238E27FC236}">
                <a16:creationId xmlns:a16="http://schemas.microsoft.com/office/drawing/2014/main" id="{48371BC0-A663-4CF8-BD71-6EA8A8F0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196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评估推荐</a:t>
            </a:r>
          </a:p>
        </p:txBody>
      </p:sp>
      <p:sp>
        <p:nvSpPr>
          <p:cNvPr id="14" name="demand-right">
            <a:extLst xmlns:a="http://schemas.openxmlformats.org/drawingml/2006/main">
              <a:ext uri="{FF2B5EF4-FFF2-40B4-BE49-F238E27FC236}">
                <a16:creationId xmlns:a16="http://schemas.microsoft.com/office/drawing/2014/main" id="{CB4E20FF-A238-4966-8C46-568D6C5D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6007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header-需求拆解">
            <a:extLst xmlns:a="http://schemas.openxmlformats.org/drawingml/2006/main">
              <a:ext uri="{FF2B5EF4-FFF2-40B4-BE49-F238E27FC236}">
                <a16:creationId xmlns:a16="http://schemas.microsoft.com/office/drawing/2014/main" id="{CE8C8632-966F-4490-BC68-7667DDA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需求拆解</a:t>
            </a:r>
          </a:p>
        </p:txBody>
      </p:sp>
      <p:sp>
        <p:nvSpPr>
          <p:cNvPr id="16" name="demand-bullets">
            <a:extLst xmlns:a="http://schemas.openxmlformats.org/drawingml/2006/main">
              <a:ext uri="{FF2B5EF4-FFF2-40B4-BE49-F238E27FC236}">
                <a16:creationId xmlns:a16="http://schemas.microsoft.com/office/drawing/2014/main" id="{F3FE34D7-CEE9-4F08-B8C4-74A43DD4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876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个性化：画像、目标、口味和禁忌共同影响结果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可解释：展示 Agent 信息传递与共识形成过程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可执行：菜谱、食材重量、储存建议一起给出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可扩展：大模型 API 可选接入，无 Key 仍可演示</a:t>
            </a:r>
          </a:p>
        </p:txBody>
      </p:sp>
      <p:sp>
        <p:nvSpPr>
          <p:cNvPr id="17" name="demand-summary">
            <a:extLst xmlns:a="http://schemas.openxmlformats.org/drawingml/2006/main">
              <a:ext uri="{FF2B5EF4-FFF2-40B4-BE49-F238E27FC236}">
                <a16:creationId xmlns:a16="http://schemas.microsoft.com/office/drawing/2014/main" id="{34060EEC-F087-428A-8059-47B967E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47857"/>
                </a:solidFill>
              </a:defRPr>
            </a:pPr>
            <a:r>
              <a:rPr sz="1500" b="1">
                <a:solidFill>
                  <a:srgbClr val="047857"/>
                </a:solidFill>
              </a:rPr>
              <a:t>需求本质：从“单点推荐”升级为“多角色协同决策”。</a:t>
            </a:r>
          </a:p>
        </p:txBody>
      </p:sp>
      <p:sp>
        <p:nvSpPr>
          <p:cNvPr id="18" name="deck-footer">
            <a:extLst xmlns:a="http://schemas.openxmlformats.org/drawingml/2006/main">
              <a:ext uri="{FF2B5EF4-FFF2-40B4-BE49-F238E27FC236}">
                <a16:creationId xmlns:a16="http://schemas.microsoft.com/office/drawing/2014/main" id="{82DEF721-70D2-483B-881F-576541A5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26071"/>
                </a:solidFill>
              </a:defRPr>
            </a:pPr>
            <a:r>
              <a:rPr sz="1050" b="0">
                <a:solidFill>
                  <a:srgbClr val="526071"/>
                </a:solidFill>
              </a:rPr>
              <a:t>多智能体协同的健康饮食规划系统</a:t>
            </a:r>
          </a:p>
        </p:txBody>
      </p:sp>
      <p:sp>
        <p:nvSpPr>
          <p:cNvPr id="19" name="page-no">
            <a:extLst xmlns:a="http://schemas.openxmlformats.org/drawingml/2006/main">
              <a:ext uri="{FF2B5EF4-FFF2-40B4-BE49-F238E27FC236}">
                <a16:creationId xmlns:a16="http://schemas.microsoft.com/office/drawing/2014/main" id="{AD525CA7-3D89-4E6A-8F7F-6EECE9DF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7957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F6A2C4C-EB10-450A-86A4-BB050E1D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887193-3783-42CB-8C01-53F1C4DA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体系结构图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7B1ACF5-F868-47F9-80F8-B1908D9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前端负责交互与可视化，后端负责统一调度、持久化和可选模型复核。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398FA0-45F1-46AE-B97E-23ECFF9C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user-node">
            <a:extLst xmlns:a="http://schemas.openxmlformats.org/drawingml/2006/main">
              <a:ext uri="{FF2B5EF4-FFF2-40B4-BE49-F238E27FC236}">
                <a16:creationId xmlns:a16="http://schemas.microsoft.com/office/drawing/2014/main" id="{7F205844-5C97-448C-9819-F08BC66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user-node-label">
            <a:extLst xmlns:a="http://schemas.openxmlformats.org/drawingml/2006/main">
              <a:ext uri="{FF2B5EF4-FFF2-40B4-BE49-F238E27FC236}">
                <a16:creationId xmlns:a16="http://schemas.microsoft.com/office/drawing/2014/main" id="{D9B204EC-41ED-4A80-AB4B-10903365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用户问卷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输入</a:t>
            </a:r>
          </a:p>
        </p:txBody>
      </p:sp>
      <p:sp>
        <p:nvSpPr>
          <p:cNvPr id="7" name="cm-node">
            <a:extLst xmlns:a="http://schemas.openxmlformats.org/drawingml/2006/main">
              <a:ext uri="{FF2B5EF4-FFF2-40B4-BE49-F238E27FC236}">
                <a16:creationId xmlns:a16="http://schemas.microsoft.com/office/drawing/2014/main" id="{A223C2A9-7080-4691-9DC3-4499B479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0375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cm-node-label">
            <a:extLst xmlns:a="http://schemas.openxmlformats.org/drawingml/2006/main">
              <a:ext uri="{FF2B5EF4-FFF2-40B4-BE49-F238E27FC236}">
                <a16:creationId xmlns:a16="http://schemas.microsoft.com/office/drawing/2014/main" id="{38319D8E-57BC-4BA0-B9EC-695B4FB2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客户经理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画像</a:t>
            </a:r>
          </a:p>
        </p:txBody>
      </p:sp>
      <p:sp>
        <p:nvSpPr>
          <p:cNvPr id="9" name="diet-node">
            <a:extLst xmlns:a="http://schemas.openxmlformats.org/drawingml/2006/main">
              <a:ext uri="{FF2B5EF4-FFF2-40B4-BE49-F238E27FC236}">
                <a16:creationId xmlns:a16="http://schemas.microsoft.com/office/drawing/2014/main" id="{6A721823-E353-4D68-A5D0-E5BAA850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0375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0" name="diet-node-label">
            <a:extLst xmlns:a="http://schemas.openxmlformats.org/drawingml/2006/main">
              <a:ext uri="{FF2B5EF4-FFF2-40B4-BE49-F238E27FC236}">
                <a16:creationId xmlns:a16="http://schemas.microsoft.com/office/drawing/2014/main" id="{821D9528-4DD6-4DAE-AFA9-6A8FABD8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饮食助理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方案</a:t>
            </a:r>
          </a:p>
        </p:txBody>
      </p:sp>
      <p:sp>
        <p:nvSpPr>
          <p:cNvPr id="11" name="ing-node">
            <a:extLst xmlns:a="http://schemas.openxmlformats.org/drawingml/2006/main">
              <a:ext uri="{FF2B5EF4-FFF2-40B4-BE49-F238E27FC236}">
                <a16:creationId xmlns:a16="http://schemas.microsoft.com/office/drawing/2014/main" id="{46506856-3C59-4234-AA82-8024B848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0375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2" name="ing-node-label">
            <a:extLst xmlns:a="http://schemas.openxmlformats.org/drawingml/2006/main">
              <a:ext uri="{FF2B5EF4-FFF2-40B4-BE49-F238E27FC236}">
                <a16:creationId xmlns:a16="http://schemas.microsoft.com/office/drawing/2014/main" id="{0015D6B1-58D2-4DCF-A653-20C501AD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食材助理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清单</a:t>
            </a:r>
          </a:p>
        </p:txBody>
      </p:sp>
      <p:sp>
        <p:nvSpPr>
          <p:cNvPr id="13" name="eval-node">
            <a:extLst xmlns:a="http://schemas.openxmlformats.org/drawingml/2006/main">
              <a:ext uri="{FF2B5EF4-FFF2-40B4-BE49-F238E27FC236}">
                <a16:creationId xmlns:a16="http://schemas.microsoft.com/office/drawing/2014/main" id="{F4352852-D73D-4029-AFCF-1A6FA25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0375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4" name="eval-node-label">
            <a:extLst xmlns:a="http://schemas.openxmlformats.org/drawingml/2006/main">
              <a:ext uri="{FF2B5EF4-FFF2-40B4-BE49-F238E27FC236}">
                <a16:creationId xmlns:a16="http://schemas.microsoft.com/office/drawing/2014/main" id="{55C26A50-A033-4830-BA2F-13DAB5C9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评估助理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推荐</a:t>
            </a:r>
          </a:p>
        </p:txBody>
      </p:sp>
      <p:sp>
        <p:nvSpPr>
          <p:cNvPr id="15" name="market-node">
            <a:extLst xmlns:a="http://schemas.openxmlformats.org/drawingml/2006/main">
              <a:ext uri="{FF2B5EF4-FFF2-40B4-BE49-F238E27FC236}">
                <a16:creationId xmlns:a16="http://schemas.microsoft.com/office/drawing/2014/main" id="{5563E39E-4737-44C2-9AF8-83FB9093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2777"/>
            </a:solidFill>
            <a:prstDash val="solid"/>
          </a:ln>
        </p:spPr>
      </p:sp>
      <p:sp>
        <p:nvSpPr>
          <p:cNvPr id="16" name="market-node-label">
            <a:extLst xmlns:a="http://schemas.openxmlformats.org/drawingml/2006/main">
              <a:ext uri="{FF2B5EF4-FFF2-40B4-BE49-F238E27FC236}">
                <a16:creationId xmlns:a16="http://schemas.microsoft.com/office/drawing/2014/main" id="{28A32F59-F958-422F-B34D-19A24D92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DB2777"/>
                </a:solidFill>
              </a:defRPr>
            </a:pPr>
            <a:r>
              <a:rPr sz="1350" b="1">
                <a:solidFill>
                  <a:srgbClr val="DB2777"/>
                </a:solidFill>
              </a:rPr>
              <a:t>营销助理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DB2777"/>
                </a:solidFill>
              </a:defRPr>
            </a:pPr>
            <a:r>
              <a:rPr sz="1350" b="1">
                <a:solidFill>
                  <a:srgbClr val="DB2777"/>
                </a:solidFill>
              </a:rPr>
              <a:t>文案/视频</a:t>
            </a:r>
          </a:p>
        </p:txBody>
      </p:sp>
      <p:sp>
        <p:nvSpPr>
          <p:cNvPr id="17" name="output-node">
            <a:extLst xmlns:a="http://schemas.openxmlformats.org/drawingml/2006/main">
              <a:ext uri="{FF2B5EF4-FFF2-40B4-BE49-F238E27FC236}">
                <a16:creationId xmlns:a16="http://schemas.microsoft.com/office/drawing/2014/main" id="{1F683FC0-2245-41B1-940D-535BB72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00375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18" name="output-node-label">
            <a:extLst xmlns:a="http://schemas.openxmlformats.org/drawingml/2006/main">
              <a:ext uri="{FF2B5EF4-FFF2-40B4-BE49-F238E27FC236}">
                <a16:creationId xmlns:a16="http://schemas.microsoft.com/office/drawing/2014/main" id="{AB4495F2-978D-47A7-8827-38BF61DD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最终输出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计划+推广</a:t>
            </a:r>
          </a:p>
        </p:txBody>
      </p:sp>
      <p:sp>
        <p:nvSpPr>
          <p:cNvPr id="19" name="arrow-1">
            <a:extLst xmlns:a="http://schemas.openxmlformats.org/drawingml/2006/main">
              <a:ext uri="{FF2B5EF4-FFF2-40B4-BE49-F238E27FC236}">
                <a16:creationId xmlns:a16="http://schemas.microsoft.com/office/drawing/2014/main" id="{6B2BCB8F-CD54-4DD8-B88E-6048E3F6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480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arrow-2">
            <a:extLst xmlns:a="http://schemas.openxmlformats.org/drawingml/2006/main">
              <a:ext uri="{FF2B5EF4-FFF2-40B4-BE49-F238E27FC236}">
                <a16:creationId xmlns:a16="http://schemas.microsoft.com/office/drawing/2014/main" id="{6CED805C-8B47-47A5-B1AE-EB774870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480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arrow-3">
            <a:extLst xmlns:a="http://schemas.openxmlformats.org/drawingml/2006/main">
              <a:ext uri="{FF2B5EF4-FFF2-40B4-BE49-F238E27FC236}">
                <a16:creationId xmlns:a16="http://schemas.microsoft.com/office/drawing/2014/main" id="{FA78710B-4DC1-4E9E-95A8-11A900C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480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arrow-4">
            <a:extLst xmlns:a="http://schemas.openxmlformats.org/drawingml/2006/main">
              <a:ext uri="{FF2B5EF4-FFF2-40B4-BE49-F238E27FC236}">
                <a16:creationId xmlns:a16="http://schemas.microsoft.com/office/drawing/2014/main" id="{C01504EE-5508-4969-AED5-932D2BB0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480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3" name="arrow-5">
            <a:extLst xmlns:a="http://schemas.openxmlformats.org/drawingml/2006/main">
              <a:ext uri="{FF2B5EF4-FFF2-40B4-BE49-F238E27FC236}">
                <a16:creationId xmlns:a16="http://schemas.microsoft.com/office/drawing/2014/main" id="{B305D73B-8441-40D2-A235-796662E1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arrow-6">
            <a:extLst xmlns:a="http://schemas.openxmlformats.org/drawingml/2006/main">
              <a:ext uri="{FF2B5EF4-FFF2-40B4-BE49-F238E27FC236}">
                <a16:creationId xmlns:a16="http://schemas.microsoft.com/office/drawing/2014/main" id="{7453D64D-798F-4A9B-BA58-6B3CED9D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480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frontend-layer">
            <a:extLst xmlns:a="http://schemas.openxmlformats.org/drawingml/2006/main">
              <a:ext uri="{FF2B5EF4-FFF2-40B4-BE49-F238E27FC236}">
                <a16:creationId xmlns:a16="http://schemas.microsoft.com/office/drawing/2014/main" id="{74E87DB7-220D-47A3-B1B7-5633CBCC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9650"/>
            <a:ext cx="2476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frontend-text">
            <a:extLst xmlns:a="http://schemas.openxmlformats.org/drawingml/2006/main">
              <a:ext uri="{FF2B5EF4-FFF2-40B4-BE49-F238E27FC236}">
                <a16:creationId xmlns:a16="http://schemas.microsoft.com/office/drawing/2014/main" id="{8B7D8F15-CD4D-4DF4-8F26-838CBA8A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720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前端 SPA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HTML / CSS / JavaScript</a:t>
            </a:r>
          </a:p>
        </p:txBody>
      </p:sp>
      <p:sp>
        <p:nvSpPr>
          <p:cNvPr id="27" name="backend-layer">
            <a:extLst xmlns:a="http://schemas.openxmlformats.org/drawingml/2006/main">
              <a:ext uri="{FF2B5EF4-FFF2-40B4-BE49-F238E27FC236}">
                <a16:creationId xmlns:a16="http://schemas.microsoft.com/office/drawing/2014/main" id="{DD2B1A99-397B-4729-8160-323AF056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2476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8" name="backend-text">
            <a:extLst xmlns:a="http://schemas.openxmlformats.org/drawingml/2006/main">
              <a:ext uri="{FF2B5EF4-FFF2-40B4-BE49-F238E27FC236}">
                <a16:creationId xmlns:a16="http://schemas.microsoft.com/office/drawing/2014/main" id="{FD2F73B4-3C32-43C3-9FDB-62345732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720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FastAPI + API Switch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统一请求信封调度</a:t>
            </a:r>
          </a:p>
        </p:txBody>
      </p:sp>
      <p:sp>
        <p:nvSpPr>
          <p:cNvPr id="29" name="storage-layer">
            <a:extLst xmlns:a="http://schemas.openxmlformats.org/drawingml/2006/main">
              <a:ext uri="{FF2B5EF4-FFF2-40B4-BE49-F238E27FC236}">
                <a16:creationId xmlns:a16="http://schemas.microsoft.com/office/drawing/2014/main" id="{7B760D43-5338-40F2-A958-8E41362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1714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30" name="storage-text">
            <a:extLst xmlns:a="http://schemas.openxmlformats.org/drawingml/2006/main">
              <a:ext uri="{FF2B5EF4-FFF2-40B4-BE49-F238E27FC236}">
                <a16:creationId xmlns:a16="http://schemas.microsoft.com/office/drawing/2014/main" id="{580FB9C3-B6C8-4FB1-B3FF-991370D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2400E"/>
                </a:solidFill>
              </a:defRPr>
            </a:pPr>
            <a:r>
              <a:rPr sz="1275" b="1">
                <a:solidFill>
                  <a:srgbClr val="92400E"/>
                </a:solidFill>
              </a:rPr>
              <a:t>SQLite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2400E"/>
                </a:solidFill>
              </a:defRPr>
            </a:pPr>
            <a:r>
              <a:rPr sz="1275" b="1">
                <a:solidFill>
                  <a:srgbClr val="92400E"/>
                </a:solidFill>
              </a:rPr>
              <a:t>账户与计划持久化</a:t>
            </a:r>
          </a:p>
        </p:txBody>
      </p:sp>
      <p:sp>
        <p:nvSpPr>
          <p:cNvPr id="31" name="provider-layer">
            <a:extLst xmlns:a="http://schemas.openxmlformats.org/drawingml/2006/main">
              <a:ext uri="{FF2B5EF4-FFF2-40B4-BE49-F238E27FC236}">
                <a16:creationId xmlns:a16="http://schemas.microsoft.com/office/drawing/2014/main" id="{9E537A57-60A2-44C0-906F-C0FE8465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19650"/>
            <a:ext cx="19240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32" name="provider-text">
            <a:extLst xmlns:a="http://schemas.openxmlformats.org/drawingml/2006/main">
              <a:ext uri="{FF2B5EF4-FFF2-40B4-BE49-F238E27FC236}">
                <a16:creationId xmlns:a16="http://schemas.microsoft.com/office/drawing/2014/main" id="{8058B03F-1B52-4BE6-AFE0-9C62421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720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可选模型复核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DeepSeek / 豆包 / 千问</a:t>
            </a:r>
          </a:p>
        </p:txBody>
      </p:sp>
      <p:sp>
        <p:nvSpPr>
          <p:cNvPr id="33" name="layer-rule">
            <a:extLst xmlns:a="http://schemas.openxmlformats.org/drawingml/2006/main">
              <a:ext uri="{FF2B5EF4-FFF2-40B4-BE49-F238E27FC236}">
                <a16:creationId xmlns:a16="http://schemas.microsoft.com/office/drawing/2014/main" id="{1947C929-4918-4CF7-800F-9C420C3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layer-note">
            <a:extLst xmlns:a="http://schemas.openxmlformats.org/drawingml/2006/main">
              <a:ext uri="{FF2B5EF4-FFF2-40B4-BE49-F238E27FC236}">
                <a16:creationId xmlns:a16="http://schemas.microsoft.com/office/drawing/2014/main" id="{C2FDE8A7-45CB-4398-BE12-111638C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26071"/>
                </a:solidFill>
              </a:defRPr>
            </a:pPr>
            <a:r>
              <a:rPr sz="1275" b="0">
                <a:solidFill>
                  <a:srgbClr val="526071"/>
                </a:solidFill>
              </a:rPr>
              <a:t>上层是业务 Agent 链路，下层是工程支撑：调度、存储、模型、发布辅助。</a:t>
            </a:r>
          </a:p>
        </p:txBody>
      </p:sp>
      <p:sp>
        <p:nvSpPr>
          <p:cNvPr id="35" name="deck-footer">
            <a:extLst xmlns:a="http://schemas.openxmlformats.org/drawingml/2006/main">
              <a:ext uri="{FF2B5EF4-FFF2-40B4-BE49-F238E27FC236}">
                <a16:creationId xmlns:a16="http://schemas.microsoft.com/office/drawing/2014/main" id="{02571631-F89E-47A4-A517-7AFBF696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26071"/>
                </a:solidFill>
              </a:defRPr>
            </a:pPr>
            <a:r>
              <a:rPr sz="1050" b="0">
                <a:solidFill>
                  <a:srgbClr val="526071"/>
                </a:solidFill>
              </a:rPr>
              <a:t>多智能体协同的健康饮食规划系统</a:t>
            </a:r>
          </a:p>
        </p:txBody>
      </p:sp>
      <p:sp>
        <p:nvSpPr>
          <p:cNvPr id="36" name="page-no">
            <a:extLst xmlns:a="http://schemas.openxmlformats.org/drawingml/2006/main">
              <a:ext uri="{FF2B5EF4-FFF2-40B4-BE49-F238E27FC236}">
                <a16:creationId xmlns:a16="http://schemas.microsoft.com/office/drawing/2014/main" id="{45C232F0-4F7A-41A2-A7DE-2FEF2111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878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7B2B234-F534-4C65-87AC-6469F479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79391B-FD13-48E8-98F6-1BE4BA4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功能和价值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CA7852E0-D8F8-41DB-B21F-EE881E7B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系统不只生成菜谱，还展示了从用户需求到可执行结果的智能协同过程。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940FA1B-8942-45B6-A79F-168DDBAF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value-card-对用户">
            <a:extLst xmlns:a="http://schemas.openxmlformats.org/drawingml/2006/main">
              <a:ext uri="{FF2B5EF4-FFF2-40B4-BE49-F238E27FC236}">
                <a16:creationId xmlns:a16="http://schemas.microsoft.com/office/drawing/2014/main" id="{BFB76E83-89BD-4118-8F6F-9C35816E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5623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</p:sp>
      <p:sp>
        <p:nvSpPr>
          <p:cNvPr id="6" name="value-title-对用户">
            <a:extLst xmlns:a="http://schemas.openxmlformats.org/drawingml/2006/main">
              <a:ext uri="{FF2B5EF4-FFF2-40B4-BE49-F238E27FC236}">
                <a16:creationId xmlns:a16="http://schemas.microsoft.com/office/drawing/2014/main" id="{E39CE7B9-D9BA-46AC-8884-BCEAF816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0B981"/>
                </a:solidFill>
              </a:defRPr>
            </a:pPr>
            <a:r>
              <a:rPr sz="1800" b="1">
                <a:solidFill>
                  <a:srgbClr val="10B981"/>
                </a:solidFill>
              </a:rPr>
              <a:t>对用户</a:t>
            </a:r>
          </a:p>
        </p:txBody>
      </p:sp>
      <p:sp>
        <p:nvSpPr>
          <p:cNvPr id="7" name="value-stat-对用户">
            <a:extLst xmlns:a="http://schemas.openxmlformats.org/drawingml/2006/main">
              <a:ext uri="{FF2B5EF4-FFF2-40B4-BE49-F238E27FC236}">
                <a16:creationId xmlns:a16="http://schemas.microsoft.com/office/drawing/2014/main" id="{A97DAE6E-59A8-41B9-812C-81B64F5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省心</a:t>
            </a:r>
          </a:p>
        </p:txBody>
      </p:sp>
      <p:sp>
        <p:nvSpPr>
          <p:cNvPr id="8" name="value-line-对用户">
            <a:extLst xmlns:a="http://schemas.openxmlformats.org/drawingml/2006/main">
              <a:ext uri="{FF2B5EF4-FFF2-40B4-BE49-F238E27FC236}">
                <a16:creationId xmlns:a16="http://schemas.microsoft.com/office/drawing/2014/main" id="{C6C2E2B3-26BF-48B5-B742-1880C6AC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value-bullets-对用户">
            <a:extLst xmlns:a="http://schemas.openxmlformats.org/drawingml/2006/main">
              <a:ext uri="{FF2B5EF4-FFF2-40B4-BE49-F238E27FC236}">
                <a16:creationId xmlns:a16="http://schemas.microsoft.com/office/drawing/2014/main" id="{879FCB1F-CFEB-4BE9-B68B-C8A713AF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一次问卷得到画像、餐单、采购清单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按成本、季节、地域给出推荐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支持日期保存和重新生成当天</a:t>
            </a:r>
          </a:p>
        </p:txBody>
      </p:sp>
      <p:sp>
        <p:nvSpPr>
          <p:cNvPr id="10" name="value-card-对系统设计">
            <a:extLst xmlns:a="http://schemas.openxmlformats.org/drawingml/2006/main">
              <a:ext uri="{FF2B5EF4-FFF2-40B4-BE49-F238E27FC236}">
                <a16:creationId xmlns:a16="http://schemas.microsoft.com/office/drawing/2014/main" id="{DDA1DDCF-36D5-4367-9F96-94F1A3E7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05050"/>
            <a:ext cx="35623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1" name="value-title-对系统设计">
            <a:extLst xmlns:a="http://schemas.openxmlformats.org/drawingml/2006/main">
              <a:ext uri="{FF2B5EF4-FFF2-40B4-BE49-F238E27FC236}">
                <a16:creationId xmlns:a16="http://schemas.microsoft.com/office/drawing/2014/main" id="{E5DC745E-C74A-4A87-8922-136BE9E5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对系统设计</a:t>
            </a:r>
          </a:p>
        </p:txBody>
      </p:sp>
      <p:sp>
        <p:nvSpPr>
          <p:cNvPr id="12" name="value-stat-对系统设计">
            <a:extLst xmlns:a="http://schemas.openxmlformats.org/drawingml/2006/main">
              <a:ext uri="{FF2B5EF4-FFF2-40B4-BE49-F238E27FC236}">
                <a16:creationId xmlns:a16="http://schemas.microsoft.com/office/drawing/2014/main" id="{9B132CBF-E9E8-42ED-AE4F-B9A1935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670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可解释</a:t>
            </a:r>
          </a:p>
        </p:txBody>
      </p:sp>
      <p:sp>
        <p:nvSpPr>
          <p:cNvPr id="13" name="value-line-对系统设计">
            <a:extLst xmlns:a="http://schemas.openxmlformats.org/drawingml/2006/main">
              <a:ext uri="{FF2B5EF4-FFF2-40B4-BE49-F238E27FC236}">
                <a16:creationId xmlns:a16="http://schemas.microsoft.com/office/drawing/2014/main" id="{C83DF7FA-09B5-47C9-AEC6-63133F18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value-bullets-对系统设计">
            <a:extLst xmlns:a="http://schemas.openxmlformats.org/drawingml/2006/main">
              <a:ext uri="{FF2B5EF4-FFF2-40B4-BE49-F238E27FC236}">
                <a16:creationId xmlns:a16="http://schemas.microsoft.com/office/drawing/2014/main" id="{18F6859B-5A5C-4096-B915-C289E13E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053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五个 Agent 分工明确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协作日志呈现信息流转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前后端分离，后端统一 API Switch</a:t>
            </a:r>
          </a:p>
        </p:txBody>
      </p:sp>
      <p:sp>
        <p:nvSpPr>
          <p:cNvPr id="15" name="value-card-对课程展示">
            <a:extLst xmlns:a="http://schemas.openxmlformats.org/drawingml/2006/main">
              <a:ext uri="{FF2B5EF4-FFF2-40B4-BE49-F238E27FC236}">
                <a16:creationId xmlns:a16="http://schemas.microsoft.com/office/drawing/2014/main" id="{75D7E7C6-9194-4A80-A6D5-CF3261B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5623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6" name="value-title-对课程展示">
            <a:extLst xmlns:a="http://schemas.openxmlformats.org/drawingml/2006/main">
              <a:ext uri="{FF2B5EF4-FFF2-40B4-BE49-F238E27FC236}">
                <a16:creationId xmlns:a16="http://schemas.microsoft.com/office/drawing/2014/main" id="{69CCB557-25FE-4E4B-B82F-222C33D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对课程展示</a:t>
            </a:r>
          </a:p>
        </p:txBody>
      </p:sp>
      <p:sp>
        <p:nvSpPr>
          <p:cNvPr id="17" name="value-stat-对课程展示">
            <a:extLst xmlns:a="http://schemas.openxmlformats.org/drawingml/2006/main">
              <a:ext uri="{FF2B5EF4-FFF2-40B4-BE49-F238E27FC236}">
                <a16:creationId xmlns:a16="http://schemas.microsoft.com/office/drawing/2014/main" id="{D0FF34A4-46EB-4AF4-86A6-E415CB6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完整</a:t>
            </a:r>
          </a:p>
        </p:txBody>
      </p:sp>
      <p:sp>
        <p:nvSpPr>
          <p:cNvPr id="18" name="value-line-对课程展示">
            <a:extLst xmlns:a="http://schemas.openxmlformats.org/drawingml/2006/main">
              <a:ext uri="{FF2B5EF4-FFF2-40B4-BE49-F238E27FC236}">
                <a16:creationId xmlns:a16="http://schemas.microsoft.com/office/drawing/2014/main" id="{3447F164-0F97-4F75-B8F0-025DEA03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value-bullets-对课程展示">
            <a:extLst xmlns:a="http://schemas.openxmlformats.org/drawingml/2006/main">
              <a:ext uri="{FF2B5EF4-FFF2-40B4-BE49-F238E27FC236}">
                <a16:creationId xmlns:a16="http://schemas.microsoft.com/office/drawing/2014/main" id="{CBB63C74-5958-4875-AF7B-653C1910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覆盖输入、处理、输出闭环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SQLite 持久化 + 离线兜底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可选真实大模型 API 接入</a:t>
            </a:r>
          </a:p>
        </p:txBody>
      </p:sp>
      <p:sp>
        <p:nvSpPr>
          <p:cNvPr id="20" name="value-bottom">
            <a:extLst xmlns:a="http://schemas.openxmlformats.org/drawingml/2006/main">
              <a:ext uri="{FF2B5EF4-FFF2-40B4-BE49-F238E27FC236}">
                <a16:creationId xmlns:a16="http://schemas.microsoft.com/office/drawing/2014/main" id="{A1DAED8A-AE31-459F-8F90-6B5D491A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47857"/>
                </a:solidFill>
              </a:defRPr>
            </a:pPr>
            <a:r>
              <a:rPr sz="1650" b="1">
                <a:solidFill>
                  <a:srgbClr val="047857"/>
                </a:solidFill>
              </a:rPr>
              <a:t>价值总结：把健康饮食规划从“静态推荐页面”变成“可追踪、可解释、可保存、可传播”的智能应用。</a:t>
            </a:r>
          </a:p>
        </p:txBody>
      </p:sp>
      <p:sp>
        <p:nvSpPr>
          <p:cNvPr id="21" name="deck-footer">
            <a:extLst xmlns:a="http://schemas.openxmlformats.org/drawingml/2006/main">
              <a:ext uri="{FF2B5EF4-FFF2-40B4-BE49-F238E27FC236}">
                <a16:creationId xmlns:a16="http://schemas.microsoft.com/office/drawing/2014/main" id="{55892565-8DE5-490E-AC73-B606CE62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26071"/>
                </a:solidFill>
              </a:defRPr>
            </a:pPr>
            <a:r>
              <a:rPr sz="1050" b="0">
                <a:solidFill>
                  <a:srgbClr val="526071"/>
                </a:solidFill>
              </a:rPr>
              <a:t>多智能体协同的健康饮食规划系统</a:t>
            </a:r>
          </a:p>
        </p:txBody>
      </p:sp>
      <p:sp>
        <p:nvSpPr>
          <p:cNvPr id="22" name="page-no">
            <a:extLst xmlns:a="http://schemas.openxmlformats.org/drawingml/2006/main">
              <a:ext uri="{FF2B5EF4-FFF2-40B4-BE49-F238E27FC236}">
                <a16:creationId xmlns:a16="http://schemas.microsoft.com/office/drawing/2014/main" id="{E3089806-AFC2-4727-A124-4B6C0746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5852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EEE1694-3409-41ED-9B83-A47D34F9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06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A4E505-6633-48B0-9494-F528C608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局限性和展望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2180E6F1-9B39-4EA1-ADE0-019024AD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26071"/>
                </a:solidFill>
              </a:defRPr>
            </a:pPr>
            <a:r>
              <a:rPr sz="1425" b="0">
                <a:solidFill>
                  <a:srgbClr val="526071"/>
                </a:solidFill>
              </a:rPr>
              <a:t>当前版本适合课程演示；进一步产品化需要补数据、补安全、补工程化。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560067-730A-4BB0-BC34-E740BC13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limits-panel">
            <a:extLst xmlns:a="http://schemas.openxmlformats.org/drawingml/2006/main">
              <a:ext uri="{FF2B5EF4-FFF2-40B4-BE49-F238E27FC236}">
                <a16:creationId xmlns:a16="http://schemas.microsoft.com/office/drawing/2014/main" id="{5E6B28B0-5B96-423E-8EC1-D9EB71EA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2959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6" name="header-当前局限">
            <a:extLst xmlns:a="http://schemas.openxmlformats.org/drawingml/2006/main">
              <a:ext uri="{FF2B5EF4-FFF2-40B4-BE49-F238E27FC236}">
                <a16:creationId xmlns:a16="http://schemas.microsoft.com/office/drawing/2014/main" id="{DB2B5EFC-4A09-4CCC-A6DD-6DA54C9C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当前局限</a:t>
            </a:r>
          </a:p>
        </p:txBody>
      </p:sp>
      <p:sp>
        <p:nvSpPr>
          <p:cNvPr id="7" name="limits-list">
            <a:extLst xmlns:a="http://schemas.openxmlformats.org/drawingml/2006/main">
              <a:ext uri="{FF2B5EF4-FFF2-40B4-BE49-F238E27FC236}">
                <a16:creationId xmlns:a16="http://schemas.microsoft.com/office/drawing/2014/main" id="{1DA4C045-B421-4E9F-81ED-F6AB8887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营养、价格、季节数据仍以本地规则为主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无 Key 时模型复核为 mock/fallback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发布助手为半自动，最终发布需人工确认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尚缺完整 E2E、CI/CD、权限审计和生产部署</a:t>
            </a:r>
          </a:p>
        </p:txBody>
      </p:sp>
      <p:sp>
        <p:nvSpPr>
          <p:cNvPr id="8" name="limits-note">
            <a:extLst xmlns:a="http://schemas.openxmlformats.org/drawingml/2006/main">
              <a:ext uri="{FF2B5EF4-FFF2-40B4-BE49-F238E27FC236}">
                <a16:creationId xmlns:a16="http://schemas.microsoft.com/office/drawing/2014/main" id="{F85D05D0-D705-4059-9833-B7B14950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9A3412"/>
                </a:solidFill>
              </a:defRPr>
            </a:pPr>
            <a:r>
              <a:rPr sz="1350" b="1">
                <a:solidFill>
                  <a:srgbClr val="9A3412"/>
                </a:solidFill>
              </a:rPr>
              <a:t>适合定位：课程项目 / 本地演示 / 原型验证</a:t>
            </a:r>
          </a:p>
        </p:txBody>
      </p:sp>
      <p:sp>
        <p:nvSpPr>
          <p:cNvPr id="9" name="future-panel">
            <a:extLst xmlns:a="http://schemas.openxmlformats.org/drawingml/2006/main">
              <a:ext uri="{FF2B5EF4-FFF2-40B4-BE49-F238E27FC236}">
                <a16:creationId xmlns:a16="http://schemas.microsoft.com/office/drawing/2014/main" id="{A480B8EC-A68A-422F-B841-4D94A507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600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0" name="header-后续展望">
            <a:extLst xmlns:a="http://schemas.openxmlformats.org/drawingml/2006/main">
              <a:ext uri="{FF2B5EF4-FFF2-40B4-BE49-F238E27FC236}">
                <a16:creationId xmlns:a16="http://schemas.microsoft.com/office/drawing/2014/main" id="{2A0D8BF6-491E-4A38-98BA-1E855430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47857"/>
                </a:solidFill>
              </a:defRPr>
            </a:pPr>
            <a:r>
              <a:rPr sz="1650" b="1">
                <a:solidFill>
                  <a:srgbClr val="047857"/>
                </a:solidFill>
              </a:rPr>
              <a:t>后续展望</a:t>
            </a:r>
          </a:p>
        </p:txBody>
      </p:sp>
      <p:sp>
        <p:nvSpPr>
          <p:cNvPr id="11" name="future-list">
            <a:extLst xmlns:a="http://schemas.openxmlformats.org/drawingml/2006/main">
              <a:ext uri="{FF2B5EF4-FFF2-40B4-BE49-F238E27FC236}">
                <a16:creationId xmlns:a16="http://schemas.microsoft.com/office/drawing/2014/main" id="{726B512E-D48F-4F13-9AA1-BEB122A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476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接入真实营养库、食材价格和地域季节数据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配置真实 DeepSeek / 豆包 / 千问 API，支持流式复核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增加用户历史、偏好记忆和更细粒度的安全提示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引入自动化测试、Docker 部署、云数据库与权限管理</a:t>
            </a:r>
          </a:p>
        </p:txBody>
      </p:sp>
      <p:sp>
        <p:nvSpPr>
          <p:cNvPr id="12" name="future-note">
            <a:extLst xmlns:a="http://schemas.openxmlformats.org/drawingml/2006/main">
              <a:ext uri="{FF2B5EF4-FFF2-40B4-BE49-F238E27FC236}">
                <a16:creationId xmlns:a16="http://schemas.microsoft.com/office/drawing/2014/main" id="{9C92EB6A-BCAC-4993-A46B-2C11CDAD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目标方向：从 demo 原型演进为健康饮食规划 SaaS 雏形</a:t>
            </a:r>
          </a:p>
        </p:txBody>
      </p:sp>
      <p:sp>
        <p:nvSpPr>
          <p:cNvPr id="13" name="deck-footer">
            <a:extLst xmlns:a="http://schemas.openxmlformats.org/drawingml/2006/main">
              <a:ext uri="{FF2B5EF4-FFF2-40B4-BE49-F238E27FC236}">
                <a16:creationId xmlns:a16="http://schemas.microsoft.com/office/drawing/2014/main" id="{09477EA3-33A9-4DD3-8AD8-5944D955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526071"/>
                </a:solidFill>
              </a:defRPr>
            </a:pPr>
            <a:r>
              <a:rPr sz="1050" b="0">
                <a:solidFill>
                  <a:srgbClr val="526071"/>
                </a:solidFill>
              </a:rPr>
              <a:t>多智能体协同的健康饮食规划系统</a:t>
            </a:r>
          </a:p>
        </p:txBody>
      </p:sp>
      <p:sp>
        <p:nvSpPr>
          <p:cNvPr id="14" name="page-no">
            <a:extLst xmlns:a="http://schemas.openxmlformats.org/drawingml/2006/main">
              <a:ext uri="{FF2B5EF4-FFF2-40B4-BE49-F238E27FC236}">
                <a16:creationId xmlns:a16="http://schemas.microsoft.com/office/drawing/2014/main" id="{B565C888-171C-453C-906A-B0B0233A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526071"/>
                </a:solidFill>
              </a:defRPr>
            </a:pPr>
            <a:r>
              <a:rPr sz="1200" b="1">
                <a:solidFill>
                  <a:srgbClr val="52607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4651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2026-06-24T09:51:32.3860000Z</dcterms:created>
  <dcterms:modified xsi:type="dcterms:W3CDTF">2026-06-24T09:51:32.3860000Z</dcterms:modified>
</coreProperties>
</file>